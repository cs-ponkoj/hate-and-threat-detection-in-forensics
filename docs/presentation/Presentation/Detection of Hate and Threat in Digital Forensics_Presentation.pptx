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0" r:id="rId4"/>
    <p:sldId id="258" r:id="rId5"/>
    <p:sldId id="259" r:id="rId6"/>
    <p:sldId id="266" r:id="rId7"/>
    <p:sldId id="268" r:id="rId8"/>
    <p:sldId id="261" r:id="rId9"/>
    <p:sldId id="267" r:id="rId10"/>
    <p:sldId id="262" r:id="rId11"/>
    <p:sldId id="264" r:id="rId12"/>
    <p:sldId id="270" r:id="rId13"/>
    <p:sldId id="269" r:id="rId14"/>
    <p:sldId id="265" r:id="rId15"/>
    <p:sldId id="271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50943-3FD7-4606-A310-1C2FEF2FEEFD}" v="194" dt="2025-12-17T03:09:47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89" autoAdjust="0"/>
    <p:restoredTop sz="66667" autoAdjust="0"/>
  </p:normalViewPr>
  <p:slideViewPr>
    <p:cSldViewPr snapToGrid="0">
      <p:cViewPr varScale="1">
        <p:scale>
          <a:sx n="81" d="100"/>
          <a:sy n="81" d="100"/>
        </p:scale>
        <p:origin x="11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koj C Shill" userId="600a8460-e905-4f36-aa59-df920474e0a1" providerId="ADAL" clId="{17586026-921C-433F-866D-C98E527EFE26}"/>
    <pc:docChg chg="modSld">
      <pc:chgData name="Ponkoj C Shill" userId="600a8460-e905-4f36-aa59-df920474e0a1" providerId="ADAL" clId="{17586026-921C-433F-866D-C98E527EFE26}" dt="2025-12-17T03:29:18.444" v="1" actId="20577"/>
      <pc:docMkLst>
        <pc:docMk/>
      </pc:docMkLst>
      <pc:sldChg chg="modNotesTx">
        <pc:chgData name="Ponkoj C Shill" userId="600a8460-e905-4f36-aa59-df920474e0a1" providerId="ADAL" clId="{17586026-921C-433F-866D-C98E527EFE26}" dt="2025-12-17T03:29:06.095" v="0" actId="20577"/>
        <pc:sldMkLst>
          <pc:docMk/>
          <pc:sldMk cId="4275877784" sldId="256"/>
        </pc:sldMkLst>
      </pc:sldChg>
      <pc:sldChg chg="modNotesTx">
        <pc:chgData name="Ponkoj C Shill" userId="600a8460-e905-4f36-aa59-df920474e0a1" providerId="ADAL" clId="{17586026-921C-433F-866D-C98E527EFE26}" dt="2025-12-17T03:29:18.444" v="1" actId="20577"/>
        <pc:sldMkLst>
          <pc:docMk/>
          <pc:sldMk cId="31102502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32ACE-C10C-4343-B8E3-A225C44CAA6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B9CDF-0FA7-4942-B0BF-C77622A11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99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1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b="0" dirty="0">
              <a:effectLst/>
            </a:endParaRPr>
          </a:p>
          <a:p>
            <a:br>
              <a:rPr lang="en-US" dirty="0"/>
            </a:b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28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06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br>
              <a:rPr lang="en-US" dirty="0"/>
            </a:b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57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48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48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6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70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12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20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5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41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29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11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966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27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9CDF-0FA7-4942-B0BF-C77622A112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2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8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3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0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5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98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3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7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7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55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5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40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-Ponkoj/Hate-and-Threat-Detection-in-Forensic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32156-995A-5BC8-FAFF-68D0ACCDD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8656" y="914400"/>
            <a:ext cx="6236208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Detection of Hate and Threat in Digital Forensics: A Case-Driven Multimodal Approach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E3B1F-3D25-1F8F-47D7-3B406E956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36" r="9964" b="-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5211A36-AF6A-830B-3985-61996AC93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9015" y="2337046"/>
            <a:ext cx="5368691" cy="15667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Ponkoj Chandra Shill</a:t>
            </a:r>
            <a:br>
              <a:rPr lang="en-US" dirty="0"/>
            </a:br>
            <a:r>
              <a:rPr lang="en-US" sz="1400" dirty="0"/>
              <a:t>PhD Candidate</a:t>
            </a:r>
            <a:br>
              <a:rPr lang="en-US" sz="1400" dirty="0"/>
            </a:br>
            <a:r>
              <a:rPr lang="en-US" sz="1400" dirty="0"/>
              <a:t>Computer Science and Engineering</a:t>
            </a:r>
            <a:br>
              <a:rPr lang="en-US" sz="1400" dirty="0"/>
            </a:br>
            <a:r>
              <a:rPr lang="en-US" sz="1400" dirty="0"/>
              <a:t>University of Nevada, Reno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F88FE-F9FE-4F53-1686-13DBDDA5BAE4}"/>
              </a:ext>
            </a:extLst>
          </p:cNvPr>
          <p:cNvSpPr txBox="1"/>
          <p:nvPr/>
        </p:nvSpPr>
        <p:spPr>
          <a:xfrm>
            <a:off x="5870294" y="4927937"/>
            <a:ext cx="4666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dirty="0"/>
              <a:t>Presenting Research Work to </a:t>
            </a:r>
            <a:br>
              <a:rPr lang="en-US" dirty="0"/>
            </a:br>
            <a:r>
              <a:rPr lang="en-US" dirty="0"/>
              <a:t>Joshua Watson</a:t>
            </a:r>
            <a:br>
              <a:rPr lang="en-US" dirty="0"/>
            </a:br>
            <a:r>
              <a:rPr lang="en-US" sz="1400" dirty="0"/>
              <a:t>Digital Forensic Examiner</a:t>
            </a:r>
            <a:br>
              <a:rPr lang="en-US" sz="1400" dirty="0"/>
            </a:br>
            <a:r>
              <a:rPr lang="en-US" sz="1400" dirty="0"/>
              <a:t>Course: CS 704 Digital Forensics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87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2"/>
    </mc:Choice>
    <mc:Fallback xmlns="">
      <p:transition spd="slow" advTm="3831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6C5F-45C9-38FF-D491-F48FD59B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4B12-2C08-D606-C514-0D350115F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Digital forensic evidence is heterogeneous</a:t>
            </a:r>
            <a:br>
              <a:rPr lang="en-US" dirty="0"/>
            </a:br>
            <a:r>
              <a:rPr lang="en-US" dirty="0"/>
              <a:t>Images, screenshots, and reports may contain embedded text, associated text, or no text at all</a:t>
            </a:r>
          </a:p>
          <a:p>
            <a:r>
              <a:rPr lang="en-US" b="1" dirty="0"/>
              <a:t>Existing detection systems make strong assumptions</a:t>
            </a:r>
            <a:br>
              <a:rPr lang="en-US" dirty="0"/>
            </a:br>
            <a:r>
              <a:rPr lang="en-US" dirty="0"/>
              <a:t>Text-only approaches ignore visual evidence, while multimodal models assume all modalities are always present</a:t>
            </a:r>
          </a:p>
          <a:p>
            <a:r>
              <a:rPr lang="en-US" b="1" dirty="0"/>
              <a:t>Forensic analysis demands justification</a:t>
            </a:r>
            <a:br>
              <a:rPr lang="en-US" dirty="0"/>
            </a:br>
            <a:r>
              <a:rPr lang="en-US" dirty="0"/>
              <a:t>Conclusions must be traceable to the specific evidence used, not just high-confidence predictions</a:t>
            </a:r>
          </a:p>
        </p:txBody>
      </p:sp>
    </p:spTree>
    <p:extLst>
      <p:ext uri="{BB962C8B-B14F-4D97-AF65-F5344CB8AC3E}">
        <p14:creationId xmlns:p14="http://schemas.microsoft.com/office/powerpoint/2010/main" val="427120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299"/>
    </mc:Choice>
    <mc:Fallback xmlns="">
      <p:transition spd="slow" advTm="7329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273A-A8CE-4819-1188-F0EED097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matters for digital forensics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E4D8-C83F-8D62-046F-066533B71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Evidence must drive analysis</a:t>
            </a:r>
            <a:br>
              <a:rPr lang="en-US" dirty="0"/>
            </a:br>
            <a:r>
              <a:rPr lang="en-US" dirty="0"/>
              <a:t>Forensic workflows require that only analyses justified by available evidence are performed</a:t>
            </a:r>
          </a:p>
          <a:p>
            <a:r>
              <a:rPr lang="en-US" b="1" dirty="0"/>
              <a:t>Decisions must be traceable and auditable</a:t>
            </a:r>
            <a:br>
              <a:rPr lang="en-US" dirty="0"/>
            </a:br>
            <a:r>
              <a:rPr lang="en-US" dirty="0"/>
              <a:t>Investigators need to know which modality contributed to a decision and how</a:t>
            </a:r>
          </a:p>
          <a:p>
            <a:r>
              <a:rPr lang="en-US" b="1" dirty="0"/>
              <a:t>Systems must handle missing or partial data</a:t>
            </a:r>
            <a:br>
              <a:rPr lang="en-US" dirty="0"/>
            </a:br>
            <a:r>
              <a:rPr lang="en-US" dirty="0"/>
              <a:t>Real cases often lack complete modalities, and pipelines must degrade gracefully</a:t>
            </a:r>
          </a:p>
        </p:txBody>
      </p:sp>
    </p:spTree>
    <p:extLst>
      <p:ext uri="{BB962C8B-B14F-4D97-AF65-F5344CB8AC3E}">
        <p14:creationId xmlns:p14="http://schemas.microsoft.com/office/powerpoint/2010/main" val="103068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76"/>
    </mc:Choice>
    <mc:Fallback xmlns="">
      <p:transition spd="slow" advTm="2707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4C76-EEBB-EA4F-1858-4F7A2DB2C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5E383-20DD-F3D3-FA34-7E5260915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Case-driven multimodal reasoning</a:t>
            </a:r>
            <a:br>
              <a:rPr lang="en-US" dirty="0"/>
            </a:br>
            <a:r>
              <a:rPr lang="en-US" dirty="0"/>
              <a:t>First determine what evidence exists: embedded text, associated text, or image only</a:t>
            </a:r>
          </a:p>
          <a:p>
            <a:r>
              <a:rPr lang="en-US" b="1" dirty="0"/>
              <a:t>Evidence-justified analysis</a:t>
            </a:r>
            <a:br>
              <a:rPr lang="en-US" dirty="0"/>
            </a:br>
            <a:r>
              <a:rPr lang="en-US" dirty="0"/>
              <a:t>Run only the analyses supported by the available evidence, instead of assuming all modalities</a:t>
            </a:r>
          </a:p>
          <a:p>
            <a:r>
              <a:rPr lang="en-US" b="1" dirty="0"/>
              <a:t>Case-aware evaluation (DS1–DS4)</a:t>
            </a:r>
            <a:br>
              <a:rPr lang="en-US" dirty="0"/>
            </a:br>
            <a:r>
              <a:rPr lang="en-US" dirty="0"/>
              <a:t>Performance is evaluated separately across four data situations because evidence availability changes the task</a:t>
            </a:r>
          </a:p>
          <a:p>
            <a:r>
              <a:rPr lang="en-US" b="1" dirty="0"/>
              <a:t>Measuring the impact of fusion</a:t>
            </a:r>
            <a:br>
              <a:rPr lang="en-US" dirty="0"/>
            </a:br>
            <a:r>
              <a:rPr lang="en-US" dirty="0"/>
              <a:t>We quantify how often multimodal fusion changes the decision compared to image-only inference</a:t>
            </a:r>
          </a:p>
        </p:txBody>
      </p:sp>
    </p:spTree>
    <p:extLst>
      <p:ext uri="{BB962C8B-B14F-4D97-AF65-F5344CB8AC3E}">
        <p14:creationId xmlns:p14="http://schemas.microsoft.com/office/powerpoint/2010/main" val="180736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627"/>
    </mc:Choice>
    <mc:Fallback xmlns="">
      <p:transition spd="slow" advTm="5262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FF35-6163-580A-A60A-772D70EC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673D8D-2AF2-3D37-D1B4-6CFCE95F7DDA}"/>
              </a:ext>
            </a:extLst>
          </p:cNvPr>
          <p:cNvSpPr txBox="1">
            <a:spLocks/>
          </p:cNvSpPr>
          <p:nvPr/>
        </p:nvSpPr>
        <p:spPr>
          <a:xfrm>
            <a:off x="700635" y="18853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DF1A95-8184-FF16-BA3B-9DA645ADC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885392"/>
            <a:ext cx="10691265" cy="3739896"/>
          </a:xfrm>
        </p:spPr>
        <p:txBody>
          <a:bodyPr/>
          <a:lstStyle/>
          <a:p>
            <a:r>
              <a:rPr lang="en-US" b="1" dirty="0"/>
              <a:t>Text-only and multimodal detection models</a:t>
            </a:r>
            <a:br>
              <a:rPr lang="en-US" dirty="0"/>
            </a:br>
            <a:r>
              <a:rPr lang="en-US" dirty="0"/>
              <a:t>Effective for moderation tasks, but assume fixed or complete input modalities</a:t>
            </a:r>
          </a:p>
          <a:p>
            <a:r>
              <a:rPr lang="en-US" b="1" dirty="0"/>
              <a:t>Multimodal fusion approaches</a:t>
            </a:r>
            <a:br>
              <a:rPr lang="en-US" dirty="0"/>
            </a:br>
            <a:r>
              <a:rPr lang="en-US" dirty="0"/>
              <a:t>Combine image and text features without explicitly reasoning about evidence availability</a:t>
            </a:r>
          </a:p>
          <a:p>
            <a:r>
              <a:rPr lang="en-US" b="1" dirty="0"/>
              <a:t>Digital forensics practice</a:t>
            </a:r>
            <a:br>
              <a:rPr lang="en-US" dirty="0"/>
            </a:br>
            <a:r>
              <a:rPr lang="en-US" dirty="0"/>
              <a:t>Emphasizes traceability and justification, which most ML pipelines do not explicitly support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79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565"/>
    </mc:Choice>
    <mc:Fallback xmlns="">
      <p:transition spd="slow" advTm="4756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D3B0A-D254-1A89-8A42-98B81856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123" y="905499"/>
            <a:ext cx="3301372" cy="33797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Methodology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D529620C-2FE1-056C-93D8-8F8AC093D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9415"/>
            <a:ext cx="8516123" cy="568451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60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163"/>
    </mc:Choice>
    <mc:Fallback xmlns="">
      <p:transition spd="slow" advTm="6316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0506-2026-BA6A-EDFD-25D0E9D2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Experimental</a:t>
            </a:r>
            <a:r>
              <a:rPr lang="en-US" b="1" dirty="0"/>
              <a:t> </a:t>
            </a:r>
            <a:r>
              <a:rPr lang="en-US" dirty="0"/>
              <a:t>Setup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B8C1-E537-57C0-F579-3028EBE1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974857"/>
            <a:ext cx="10691265" cy="3739896"/>
          </a:xfrm>
        </p:spPr>
        <p:txBody>
          <a:bodyPr>
            <a:normAutofit/>
          </a:bodyPr>
          <a:lstStyle/>
          <a:p>
            <a:r>
              <a:rPr lang="en-US" b="1" dirty="0"/>
              <a:t>Type of evidence used</a:t>
            </a:r>
          </a:p>
          <a:p>
            <a:pPr lvl="1"/>
            <a:r>
              <a:rPr lang="en-US" dirty="0"/>
              <a:t>Heterogeneous forensic-style evidence</a:t>
            </a:r>
          </a:p>
          <a:p>
            <a:pPr lvl="1"/>
            <a:r>
              <a:rPr lang="en-US" dirty="0"/>
              <a:t>Images, OCR-derived embedded text, and associated contextual text</a:t>
            </a:r>
          </a:p>
          <a:p>
            <a:r>
              <a:rPr lang="en-US" b="1" dirty="0"/>
              <a:t>Learning setting</a:t>
            </a:r>
          </a:p>
          <a:p>
            <a:pPr lvl="1"/>
            <a:r>
              <a:rPr lang="en-US" dirty="0"/>
              <a:t>Zero-shot inference only</a:t>
            </a:r>
          </a:p>
          <a:p>
            <a:pPr lvl="1"/>
            <a:r>
              <a:rPr lang="en-US" dirty="0"/>
              <a:t>No task-specific training or fine-tuning</a:t>
            </a:r>
          </a:p>
          <a:p>
            <a:r>
              <a:rPr lang="en-US" b="1" dirty="0"/>
              <a:t>Models used</a:t>
            </a:r>
          </a:p>
          <a:p>
            <a:pPr lvl="1"/>
            <a:r>
              <a:rPr lang="en-US" dirty="0"/>
              <a:t>Image analysis: CLIP-based vision–language model (</a:t>
            </a:r>
            <a:r>
              <a:rPr lang="en-US" dirty="0" err="1"/>
              <a:t>ViT</a:t>
            </a:r>
            <a:r>
              <a:rPr lang="en-US" dirty="0"/>
              <a:t>-L/14)</a:t>
            </a:r>
          </a:p>
          <a:p>
            <a:pPr lvl="1"/>
            <a:r>
              <a:rPr lang="en-US" dirty="0"/>
              <a:t>Text analysis: Transformer-based zero-shot classifier (DeBERTa-v3-large–based)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3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63"/>
    </mc:Choice>
    <mc:Fallback xmlns="">
      <p:transition spd="slow" advTm="3706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8A81-D43E-1441-FCF7-CB81E1853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Case-driven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1DDCD-3D98-35E2-131A-515D6785F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90186"/>
            <a:ext cx="10691265" cy="3739896"/>
          </a:xfrm>
        </p:spPr>
        <p:txBody>
          <a:bodyPr/>
          <a:lstStyle/>
          <a:p>
            <a:r>
              <a:rPr lang="en-US" b="1" dirty="0"/>
              <a:t>Three forensic checks</a:t>
            </a:r>
            <a:br>
              <a:rPr lang="en-US" dirty="0"/>
            </a:br>
            <a:r>
              <a:rPr lang="en-US" dirty="0"/>
              <a:t>Embedded text detection, associated text availability, and image-only evidence</a:t>
            </a:r>
          </a:p>
          <a:p>
            <a:r>
              <a:rPr lang="en-US" b="1" dirty="0"/>
              <a:t>Four derived data situations (DS1–DS4)</a:t>
            </a:r>
            <a:br>
              <a:rPr lang="en-US" dirty="0"/>
            </a:br>
            <a:r>
              <a:rPr lang="en-US" dirty="0"/>
              <a:t>Evidence is routed based on which text sources are present</a:t>
            </a:r>
          </a:p>
          <a:p>
            <a:r>
              <a:rPr lang="en-US" b="1" dirty="0"/>
              <a:t>Deterministic, evidence-first logic</a:t>
            </a:r>
            <a:br>
              <a:rPr lang="en-US" dirty="0"/>
            </a:br>
            <a:r>
              <a:rPr lang="en-US" dirty="0"/>
              <a:t>Routing follows explicit true/false decisions, not learned assumptions</a:t>
            </a:r>
          </a:p>
        </p:txBody>
      </p:sp>
    </p:spTree>
    <p:extLst>
      <p:ext uri="{BB962C8B-B14F-4D97-AF65-F5344CB8AC3E}">
        <p14:creationId xmlns:p14="http://schemas.microsoft.com/office/powerpoint/2010/main" val="56852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988"/>
    </mc:Choice>
    <mc:Fallback xmlns="">
      <p:transition spd="slow" advTm="6598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18549-AD36-E1C2-4B6B-0EA849CB3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Modality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27ACFF17-3499-91D5-E91B-9EC8D64D82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98" y="863602"/>
            <a:ext cx="5307243" cy="51347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6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82"/>
    </mc:Choice>
    <mc:Fallback xmlns="">
      <p:transition spd="slow" advTm="4908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23607-2155-8077-993E-8E597850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Frozen label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553D4-322D-E783-4922-1EB3C6C2A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76760"/>
            <a:ext cx="7752900" cy="3739896"/>
          </a:xfrm>
        </p:spPr>
        <p:txBody>
          <a:bodyPr>
            <a:normAutofit/>
          </a:bodyPr>
          <a:lstStyle/>
          <a:p>
            <a:r>
              <a:rPr lang="en-US" b="1" dirty="0"/>
              <a:t>Single, fixed forensic label set</a:t>
            </a:r>
            <a:br>
              <a:rPr lang="en-US" dirty="0"/>
            </a:br>
            <a:r>
              <a:rPr lang="en-US" dirty="0"/>
              <a:t>All modalities map into the same predefined semantic categories</a:t>
            </a:r>
          </a:p>
          <a:p>
            <a:r>
              <a:rPr lang="en-US" b="1" dirty="0"/>
              <a:t>Prevents label drift across models</a:t>
            </a:r>
            <a:br>
              <a:rPr lang="en-US" dirty="0"/>
            </a:br>
            <a:r>
              <a:rPr lang="en-US" dirty="0"/>
              <a:t>Image, OCR text, and associated text use identical label definitions</a:t>
            </a:r>
          </a:p>
          <a:p>
            <a:r>
              <a:rPr lang="en-US" b="1" dirty="0"/>
              <a:t>Enables interpretable fusion</a:t>
            </a:r>
            <a:br>
              <a:rPr lang="en-US" dirty="0"/>
            </a:br>
            <a:r>
              <a:rPr lang="en-US" dirty="0"/>
              <a:t>Scores can be compared and combined meaningfully across modalities</a:t>
            </a: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DF0CE4D-EAEF-3462-E75A-B8856BC85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029" y="3809702"/>
            <a:ext cx="3972479" cy="2133898"/>
          </a:xfrm>
          <a:prstGeom prst="rect">
            <a:avLst/>
          </a:prstGeom>
          <a:effectLst>
            <a:glow rad="76200">
              <a:schemeClr val="tx1"/>
            </a:glow>
          </a:effectLst>
        </p:spPr>
      </p:pic>
    </p:spTree>
    <p:extLst>
      <p:ext uri="{BB962C8B-B14F-4D97-AF65-F5344CB8AC3E}">
        <p14:creationId xmlns:p14="http://schemas.microsoft.com/office/powerpoint/2010/main" val="7128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90"/>
    </mc:Choice>
    <mc:Fallback xmlns="">
      <p:transition spd="slow" advTm="2749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2765-67C5-CE2C-C82B-6D18BD20D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32" y="954156"/>
            <a:ext cx="10691265" cy="1307592"/>
          </a:xfrm>
        </p:spPr>
        <p:txBody>
          <a:bodyPr/>
          <a:lstStyle/>
          <a:p>
            <a:r>
              <a:rPr lang="en-US" dirty="0"/>
              <a:t>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9D8A8-3899-7D84-90A8-66086FE2D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732" y="2261748"/>
            <a:ext cx="10691265" cy="3739896"/>
          </a:xfrm>
        </p:spPr>
        <p:txBody>
          <a:bodyPr/>
          <a:lstStyle/>
          <a:p>
            <a:r>
              <a:rPr lang="en-US" b="1" dirty="0"/>
              <a:t>Fusion only when multiple modalities exist</a:t>
            </a:r>
            <a:br>
              <a:rPr lang="en-US" dirty="0"/>
            </a:br>
            <a:r>
              <a:rPr lang="en-US" dirty="0"/>
              <a:t>Image, OCR text, and associated text are combined only if present</a:t>
            </a:r>
          </a:p>
          <a:p>
            <a:r>
              <a:rPr lang="en-US" b="1" dirty="0"/>
              <a:t>Fixed, evidence-driven weights</a:t>
            </a:r>
            <a:br>
              <a:rPr lang="en-US" dirty="0"/>
            </a:br>
            <a:r>
              <a:rPr lang="en-US" dirty="0"/>
              <a:t>Image: 1.0, OCR text: 1.0, Associated text: 1.2</a:t>
            </a:r>
            <a:br>
              <a:rPr lang="en-US" dirty="0"/>
            </a:br>
            <a:r>
              <a:rPr lang="en-US" dirty="0"/>
              <a:t>Missing modalities are excluded rather than penalized</a:t>
            </a:r>
          </a:p>
          <a:p>
            <a:r>
              <a:rPr lang="en-US" b="1" dirty="0"/>
              <a:t>Audit-friendly outputs</a:t>
            </a:r>
            <a:br>
              <a:rPr lang="en-US" dirty="0"/>
            </a:br>
            <a:r>
              <a:rPr lang="en-US" dirty="0"/>
              <a:t>Per-modality scores and fused scores are retained</a:t>
            </a:r>
          </a:p>
        </p:txBody>
      </p:sp>
      <p:pic>
        <p:nvPicPr>
          <p:cNvPr id="5" name="Picture 4" descr="A black text with black lines">
            <a:extLst>
              <a:ext uri="{FF2B5EF4-FFF2-40B4-BE49-F238E27FC236}">
                <a16:creationId xmlns:a16="http://schemas.microsoft.com/office/drawing/2014/main" id="{03B9C120-8827-4CD7-A6DE-FADBEDC92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769" y="3218883"/>
            <a:ext cx="4616850" cy="1456882"/>
          </a:xfrm>
          <a:prstGeom prst="rect">
            <a:avLst/>
          </a:prstGeom>
          <a:effectLst>
            <a:glow rad="76200">
              <a:schemeClr val="tx1"/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1102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037"/>
    </mc:Choice>
    <mc:Fallback xmlns="">
      <p:transition spd="slow" advTm="4803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24389-053E-B0EC-9840-8C9B91946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FF23A-B72C-8DAE-A275-0A950CE73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/>
              <a:t>Example Walkthrough (weapon_2)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 descr="An object and bullets on a table&#10;&#10;AI-generated content may be incorrect.">
            <a:extLst>
              <a:ext uri="{FF2B5EF4-FFF2-40B4-BE49-F238E27FC236}">
                <a16:creationId xmlns:a16="http://schemas.microsoft.com/office/drawing/2014/main" id="{9E2CA1C5-E0CD-320A-CBEA-BAF464C84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10" y="2700614"/>
            <a:ext cx="2434810" cy="1826108"/>
          </a:xfrm>
          <a:prstGeom prst="rect">
            <a:avLst/>
          </a:prstGeom>
        </p:spPr>
      </p:pic>
      <p:pic>
        <p:nvPicPr>
          <p:cNvPr id="11" name="Picture 10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B05073B1-3EDB-F7C0-666D-D8AC3D7A63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749" y="2410785"/>
            <a:ext cx="7649151" cy="232598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85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940"/>
    </mc:Choice>
    <mc:Fallback xmlns="">
      <p:transition spd="slow" advTm="4794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0918-9D85-1429-5E37-853E6097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Walkthrough (weapon_2)</a:t>
            </a:r>
          </a:p>
        </p:txBody>
      </p:sp>
      <p:pic>
        <p:nvPicPr>
          <p:cNvPr id="5" name="Content Placeholder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FBB7F0DC-B0EE-9868-A186-F70B014B1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39" y="1568197"/>
            <a:ext cx="4078999" cy="2145388"/>
          </a:xfr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9351536-FDE3-0303-D0DB-45580C3F0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39" y="3828040"/>
            <a:ext cx="4078999" cy="2238607"/>
          </a:xfrm>
          <a:prstGeom prst="rect">
            <a:avLst/>
          </a:prstGeom>
        </p:spPr>
      </p:pic>
      <p:pic>
        <p:nvPicPr>
          <p:cNvPr id="13" name="Picture 1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E844BBD-3224-56C2-2253-17ED68606D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727" y="2482108"/>
            <a:ext cx="4565173" cy="2462954"/>
          </a:xfrm>
          <a:prstGeom prst="rect">
            <a:avLst/>
          </a:prstGeom>
          <a:effectLst>
            <a:glow rad="76200">
              <a:schemeClr val="tx1"/>
            </a:glow>
          </a:effec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8F1E4ADE-94EE-2717-5FA3-AC4A3C67B868}"/>
              </a:ext>
            </a:extLst>
          </p:cNvPr>
          <p:cNvSpPr/>
          <p:nvPr/>
        </p:nvSpPr>
        <p:spPr>
          <a:xfrm>
            <a:off x="5365274" y="3242388"/>
            <a:ext cx="1248703" cy="942393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5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416"/>
    </mc:Choice>
    <mc:Fallback xmlns="">
      <p:transition spd="slow" advTm="5841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B427C-FA89-03CD-CD43-52E2A876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12" y="89025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table of data with text and numbers&#10;&#10;AI-generated content may be incorrect.">
            <a:extLst>
              <a:ext uri="{FF2B5EF4-FFF2-40B4-BE49-F238E27FC236}">
                <a16:creationId xmlns:a16="http://schemas.microsoft.com/office/drawing/2014/main" id="{3EB2E172-F971-8DD9-D416-F246303B5E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2" b="1"/>
          <a:stretch>
            <a:fillRect/>
          </a:stretch>
        </p:blipFill>
        <p:spPr>
          <a:xfrm>
            <a:off x="497582" y="2051655"/>
            <a:ext cx="5549902" cy="181811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3808-5732-8DB1-5936-5B2CB120D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1455089"/>
            <a:ext cx="4819903" cy="4667327"/>
          </a:xfrm>
        </p:spPr>
        <p:txBody>
          <a:bodyPr>
            <a:normAutofit/>
          </a:bodyPr>
          <a:lstStyle/>
          <a:p>
            <a:r>
              <a:rPr lang="en-US" b="1" dirty="0"/>
              <a:t>Stable performance across evidence conditions (DS1–DS4)</a:t>
            </a:r>
            <a:br>
              <a:rPr lang="en-US" b="1" dirty="0"/>
            </a:br>
            <a:r>
              <a:rPr lang="en-US" dirty="0"/>
              <a:t>High accuracy is maintained whether evidence includes embedded text, associated text, or image-only content (Table I)</a:t>
            </a:r>
          </a:p>
          <a:p>
            <a:r>
              <a:rPr lang="en-US" b="1" dirty="0"/>
              <a:t>Multimodal fusion changes decisions when text is present</a:t>
            </a:r>
            <a:br>
              <a:rPr lang="en-US" dirty="0"/>
            </a:br>
            <a:r>
              <a:rPr lang="en-US" dirty="0"/>
              <a:t>In DS1–DS3, fusion alters the final label in a substantial fraction of cases, showing that textual context materially influences interpretation (Table II)</a:t>
            </a:r>
          </a:p>
        </p:txBody>
      </p:sp>
      <p:pic>
        <p:nvPicPr>
          <p:cNvPr id="7" name="Picture 6" descr="A table of evidence&#10;&#10;AI-generated content may be incorrect.">
            <a:extLst>
              <a:ext uri="{FF2B5EF4-FFF2-40B4-BE49-F238E27FC236}">
                <a16:creationId xmlns:a16="http://schemas.microsoft.com/office/drawing/2014/main" id="{A673D05D-E1E1-5629-20CF-5CD3D1D26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76" y="4011066"/>
            <a:ext cx="5430008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48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089"/>
    </mc:Choice>
    <mc:Fallback xmlns="">
      <p:transition spd="slow" advTm="5408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8ED1-A4B4-4941-42D9-02B2A402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522D0-4CE4-6C79-4A3A-DA6BCE216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Evidence-aware multimodal reasoning</a:t>
            </a:r>
            <a:br>
              <a:rPr lang="en-US" dirty="0"/>
            </a:br>
            <a:r>
              <a:rPr lang="en-US" dirty="0"/>
              <a:t>The pipeline conditions analysis on what evidence actually exists, aligning automated inference with forensic practice</a:t>
            </a:r>
          </a:p>
          <a:p>
            <a:r>
              <a:rPr lang="en-US" b="1" dirty="0"/>
              <a:t>Transparent and auditable decisions</a:t>
            </a:r>
            <a:br>
              <a:rPr lang="en-US" dirty="0"/>
            </a:br>
            <a:r>
              <a:rPr lang="en-US" dirty="0"/>
              <a:t>Case-driven routing, a frozen label space, and score-level fusion preserve traceability and interpretability</a:t>
            </a:r>
          </a:p>
          <a:p>
            <a:r>
              <a:rPr lang="en-US" b="1" dirty="0"/>
              <a:t>Effective across heterogeneous forensic scenarios</a:t>
            </a:r>
            <a:br>
              <a:rPr lang="en-US" dirty="0"/>
            </a:br>
            <a:r>
              <a:rPr lang="en-US" dirty="0"/>
              <a:t>Results show consistent performance across DS1–DS4 and meaningful impact of multimodal fusion when text is available</a:t>
            </a:r>
          </a:p>
          <a:p>
            <a:r>
              <a:rPr lang="en-US" b="1" dirty="0"/>
              <a:t>Designed for decision support, not replacement</a:t>
            </a:r>
            <a:br>
              <a:rPr lang="en-US" dirty="0"/>
            </a:br>
            <a:r>
              <a:rPr lang="en-US" dirty="0"/>
              <a:t>The system supports forensic triage and analyst review rather than fully automated judgment</a:t>
            </a:r>
          </a:p>
        </p:txBody>
      </p:sp>
    </p:spTree>
    <p:extLst>
      <p:ext uri="{BB962C8B-B14F-4D97-AF65-F5344CB8AC3E}">
        <p14:creationId xmlns:p14="http://schemas.microsoft.com/office/powerpoint/2010/main" val="213778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01"/>
    </mc:Choice>
    <mc:Fallback xmlns="">
      <p:transition spd="slow" advTm="5790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E311-09CD-DFF3-A788-EFD5427C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B7FA-D22D-5134-9327-FA92948DE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568196"/>
            <a:ext cx="10045479" cy="41629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[1] </a:t>
            </a:r>
            <a:r>
              <a:rPr lang="en-US" sz="1200" i="1" dirty="0"/>
              <a:t>J. Devlin, M.-W. Chang, K. Lee, and K. Toutanova, “Bert: Pre-training </a:t>
            </a:r>
            <a:r>
              <a:rPr lang="en-US" sz="1200" i="1" dirty="0" err="1"/>
              <a:t>ofdeep</a:t>
            </a:r>
            <a:r>
              <a:rPr lang="en-US" sz="1200" i="1" dirty="0"/>
              <a:t> bidirectional transformers for language understanding,” in NAACLHLT, 2019.</a:t>
            </a:r>
          </a:p>
          <a:p>
            <a:pPr marL="0" indent="0">
              <a:buNone/>
            </a:pPr>
            <a:r>
              <a:rPr lang="en-US" sz="1200" dirty="0"/>
              <a:t>[2] </a:t>
            </a:r>
            <a:r>
              <a:rPr lang="en-US" sz="1200" i="1" dirty="0"/>
              <a:t>A. Radford, J. W. Kim, C. Hallacy et al., “Learning transferable </a:t>
            </a:r>
            <a:r>
              <a:rPr lang="en-US" sz="1200" i="1" dirty="0" err="1"/>
              <a:t>visualmodels</a:t>
            </a:r>
            <a:r>
              <a:rPr lang="en-US" sz="1200" i="1" dirty="0"/>
              <a:t> from natural language supervision,” in ICML, 2021.</a:t>
            </a:r>
          </a:p>
          <a:p>
            <a:pPr marL="0" indent="0">
              <a:buNone/>
            </a:pPr>
            <a:r>
              <a:rPr lang="en-US" sz="1200" dirty="0"/>
              <a:t>[3] </a:t>
            </a:r>
            <a:r>
              <a:rPr lang="en-US" sz="1200" i="1" dirty="0"/>
              <a:t>D. Kiela, H. Firooz, A. Mohan, V. Goswami, A. Singh, D. </a:t>
            </a:r>
            <a:r>
              <a:rPr lang="en-US" sz="1200" i="1" dirty="0" err="1"/>
              <a:t>Fitzpatrick,and</a:t>
            </a:r>
            <a:r>
              <a:rPr lang="en-US" sz="1200" i="1" dirty="0"/>
              <a:t> J. Turian, “The hateful memes challenge: Detecting hate </a:t>
            </a:r>
            <a:r>
              <a:rPr lang="en-US" sz="1200" i="1" dirty="0" err="1"/>
              <a:t>speechin</a:t>
            </a:r>
            <a:r>
              <a:rPr lang="en-US" sz="1200" i="1" dirty="0"/>
              <a:t> multimodal memes,” in Advances in Neural Information </a:t>
            </a:r>
            <a:r>
              <a:rPr lang="en-US" sz="1200" i="1" dirty="0" err="1"/>
              <a:t>ProcessingSystems</a:t>
            </a:r>
            <a:r>
              <a:rPr lang="en-US" sz="1200" i="1" dirty="0"/>
              <a:t> (</a:t>
            </a:r>
            <a:r>
              <a:rPr lang="en-US" sz="1200" i="1" dirty="0" err="1"/>
              <a:t>NeurIPS</a:t>
            </a:r>
            <a:r>
              <a:rPr lang="en-US" sz="1200" i="1" dirty="0"/>
              <a:t>), 2020.</a:t>
            </a:r>
          </a:p>
          <a:p>
            <a:pPr marL="0" indent="0">
              <a:buNone/>
            </a:pPr>
            <a:r>
              <a:rPr lang="en-US" sz="1200" dirty="0"/>
              <a:t>[4] </a:t>
            </a:r>
            <a:r>
              <a:rPr lang="en-US" sz="1200" i="1" dirty="0"/>
              <a:t>R. Gomez et al., “Exploring hate speech detection in </a:t>
            </a:r>
            <a:r>
              <a:rPr lang="en-US" sz="1200" i="1" dirty="0" err="1"/>
              <a:t>multimodalpublications</a:t>
            </a:r>
            <a:r>
              <a:rPr lang="en-US" sz="1200" i="1" dirty="0"/>
              <a:t>,” in IEEE Winter Conference on Applications of </a:t>
            </a:r>
            <a:r>
              <a:rPr lang="en-US" sz="1200" i="1" dirty="0" err="1"/>
              <a:t>ComputerVision</a:t>
            </a:r>
            <a:r>
              <a:rPr lang="en-US" sz="1200" i="1" dirty="0"/>
              <a:t> (WACV), 2020.</a:t>
            </a:r>
          </a:p>
          <a:p>
            <a:pPr marL="0" indent="0">
              <a:buNone/>
            </a:pPr>
            <a:r>
              <a:rPr lang="en-US" sz="1200" dirty="0"/>
              <a:t>[5] </a:t>
            </a:r>
            <a:r>
              <a:rPr lang="en-US" sz="1200" i="1" dirty="0"/>
              <a:t>F. T. </a:t>
            </a:r>
            <a:r>
              <a:rPr lang="en-US" sz="1200" i="1" dirty="0" err="1"/>
              <a:t>Boishakhi</a:t>
            </a:r>
            <a:r>
              <a:rPr lang="en-US" sz="1200" i="1" dirty="0"/>
              <a:t>, P. C. Shill, and M. G. R. Alam, “Multi-modal </a:t>
            </a:r>
            <a:r>
              <a:rPr lang="en-US" sz="1200" i="1" dirty="0" err="1"/>
              <a:t>hatespeech</a:t>
            </a:r>
            <a:r>
              <a:rPr lang="en-US" sz="1200" i="1" dirty="0"/>
              <a:t> detection using machine learning,” in 2021 IEEE </a:t>
            </a:r>
            <a:r>
              <a:rPr lang="en-US" sz="1200" i="1" dirty="0" err="1"/>
              <a:t>InternationalConference</a:t>
            </a:r>
            <a:r>
              <a:rPr lang="en-US" sz="1200" i="1" dirty="0"/>
              <a:t> on Big Data (</a:t>
            </a:r>
            <a:r>
              <a:rPr lang="en-US" sz="1200" i="1" dirty="0" err="1"/>
              <a:t>BigData</a:t>
            </a:r>
            <a:r>
              <a:rPr lang="en-US" sz="1200" i="1" dirty="0"/>
              <a:t>), 2021.</a:t>
            </a:r>
          </a:p>
          <a:p>
            <a:pPr marL="0" indent="0">
              <a:buNone/>
            </a:pPr>
            <a:r>
              <a:rPr lang="en-US" sz="1200" dirty="0"/>
              <a:t>[6] </a:t>
            </a:r>
            <a:r>
              <a:rPr lang="en-US" sz="1200" i="1" dirty="0"/>
              <a:t>T. </a:t>
            </a:r>
            <a:r>
              <a:rPr lang="en-US" sz="1200" i="1" dirty="0" err="1"/>
              <a:t>Baltruˇsaitis</a:t>
            </a:r>
            <a:r>
              <a:rPr lang="en-US" sz="1200" i="1" dirty="0"/>
              <a:t>, C. Ahuja, and L.-P. Morency, “Multimodal </a:t>
            </a:r>
            <a:r>
              <a:rPr lang="en-US" sz="1200" i="1" dirty="0" err="1"/>
              <a:t>machinelearning</a:t>
            </a:r>
            <a:r>
              <a:rPr lang="en-US" sz="1200" i="1" dirty="0"/>
              <a:t>: A survey and taxonomy,” IEEE Transactions on </a:t>
            </a:r>
            <a:r>
              <a:rPr lang="en-US" sz="1200" i="1" dirty="0" err="1"/>
              <a:t>PatternAnalysis</a:t>
            </a:r>
            <a:r>
              <a:rPr lang="en-US" sz="1200" i="1" dirty="0"/>
              <a:t> and Machine Intelligence, vol. 41, p. 423–443, 2018.</a:t>
            </a:r>
          </a:p>
          <a:p>
            <a:pPr marL="0" indent="0">
              <a:buNone/>
            </a:pPr>
            <a:r>
              <a:rPr lang="en-US" sz="1200" dirty="0"/>
              <a:t>[7] </a:t>
            </a:r>
            <a:r>
              <a:rPr lang="en-US" sz="1200" i="1" dirty="0"/>
              <a:t>A. Arya et al., “Multimodal hate speech detection in memes </a:t>
            </a:r>
            <a:r>
              <a:rPr lang="en-US" sz="1200" i="1" dirty="0" err="1"/>
              <a:t>usingcontrastive</a:t>
            </a:r>
            <a:r>
              <a:rPr lang="en-US" sz="1200" i="1" dirty="0"/>
              <a:t> language-image pre-training,” IEEE Access, 2024.</a:t>
            </a:r>
          </a:p>
          <a:p>
            <a:pPr marL="0" indent="0">
              <a:buNone/>
            </a:pPr>
            <a:r>
              <a:rPr lang="en-US" sz="1200" dirty="0"/>
              <a:t>[8] </a:t>
            </a:r>
            <a:r>
              <a:rPr lang="en-US" sz="1200" i="1" dirty="0"/>
              <a:t>Y. Zhu et al., “Multimodal zero-shot hateful meme detection,” WebSci’22: Proceedings of the 14th ACM Web Science Conference 2022, 2022.</a:t>
            </a:r>
          </a:p>
          <a:p>
            <a:pPr marL="0" indent="0">
              <a:buNone/>
            </a:pPr>
            <a:r>
              <a:rPr lang="en-US" sz="1200" dirty="0"/>
              <a:t>[9] </a:t>
            </a:r>
            <a:r>
              <a:rPr lang="en-US" sz="1200" i="1" dirty="0"/>
              <a:t>J. Yamagishi, “Simpler prompts, better results: Enhancing zero-shot de-</a:t>
            </a:r>
            <a:r>
              <a:rPr lang="en-US" sz="1200" i="1" dirty="0" err="1"/>
              <a:t>tection</a:t>
            </a:r>
            <a:r>
              <a:rPr lang="en-US" sz="1200" i="1" dirty="0"/>
              <a:t> with a large multimodal model,” in ACL Workshop Proceedings,2024.</a:t>
            </a:r>
          </a:p>
          <a:p>
            <a:pPr marL="0" indent="0">
              <a:buNone/>
            </a:pPr>
            <a:r>
              <a:rPr lang="en-US" sz="1200" dirty="0"/>
              <a:t>[10] </a:t>
            </a:r>
            <a:r>
              <a:rPr lang="en-US" sz="1200" i="1" dirty="0"/>
              <a:t>Z. </a:t>
            </a:r>
            <a:r>
              <a:rPr lang="en-US" sz="1200" i="1" dirty="0" err="1"/>
              <a:t>Kuˇcerov´a</a:t>
            </a:r>
            <a:r>
              <a:rPr lang="en-US" sz="1200" i="1" dirty="0"/>
              <a:t> et al., “Machine learning for crime report </a:t>
            </a:r>
            <a:r>
              <a:rPr lang="en-US" sz="1200" i="1" dirty="0" err="1"/>
              <a:t>classification,”IEEE</a:t>
            </a:r>
            <a:r>
              <a:rPr lang="en-US" sz="1200" i="1" dirty="0"/>
              <a:t> Access, 2020.</a:t>
            </a:r>
          </a:p>
          <a:p>
            <a:pPr marL="0" indent="0">
              <a:buNone/>
            </a:pPr>
            <a:r>
              <a:rPr lang="en-US" sz="1200" dirty="0"/>
              <a:t>[11] </a:t>
            </a:r>
            <a:r>
              <a:rPr lang="en-US" sz="1200" i="1" dirty="0"/>
              <a:t>G. </a:t>
            </a:r>
            <a:r>
              <a:rPr lang="en-US" sz="1200" i="1" dirty="0" err="1"/>
              <a:t>Karystianis</a:t>
            </a:r>
            <a:r>
              <a:rPr lang="en-US" sz="1200" i="1" dirty="0"/>
              <a:t> et al., “Automated information extraction from </a:t>
            </a:r>
            <a:r>
              <a:rPr lang="en-US" sz="1200" i="1" dirty="0" err="1"/>
              <a:t>policereports</a:t>
            </a:r>
            <a:r>
              <a:rPr lang="en-US" sz="1200" i="1" dirty="0"/>
              <a:t>,” Journal of Biomedical Informatics, 2018.</a:t>
            </a:r>
          </a:p>
          <a:p>
            <a:pPr marL="0" indent="0">
              <a:buNone/>
            </a:pPr>
            <a:r>
              <a:rPr lang="en-US" sz="1200" dirty="0"/>
              <a:t>[12] </a:t>
            </a:r>
            <a:r>
              <a:rPr lang="en-US" sz="1200" i="1" dirty="0"/>
              <a:t>X. Du et al., “Deep learning for digital forensics: A survey,” </a:t>
            </a:r>
            <a:r>
              <a:rPr lang="en-US" sz="1200" i="1" dirty="0" err="1"/>
              <a:t>ForensicScience</a:t>
            </a:r>
            <a:r>
              <a:rPr lang="en-US" sz="1200" i="1" dirty="0"/>
              <a:t> International: Digital Investigation, 2020.</a:t>
            </a:r>
          </a:p>
        </p:txBody>
      </p:sp>
    </p:spTree>
    <p:extLst>
      <p:ext uri="{BB962C8B-B14F-4D97-AF65-F5344CB8AC3E}">
        <p14:creationId xmlns:p14="http://schemas.microsoft.com/office/powerpoint/2010/main" val="260884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91"/>
    </mc:Choice>
    <mc:Fallback xmlns="">
      <p:transition spd="slow" advTm="619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A811C-9A15-DF8D-B517-358B169DD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191426"/>
            <a:ext cx="6001512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cxnSp>
        <p:nvCxnSpPr>
          <p:cNvPr id="7177" name="Straight Connector 7176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39140-ED0A-1CFF-8B1F-16AA46032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78" y="5897682"/>
            <a:ext cx="6217822" cy="1307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An open-source implementation of the proposed framework is available at </a:t>
            </a:r>
            <a:br>
              <a:rPr lang="en-US" sz="1400" dirty="0"/>
            </a:br>
            <a:r>
              <a:rPr lang="en-US" sz="1400" i="1" dirty="0">
                <a:hlinkClick r:id="rId3"/>
              </a:rPr>
              <a:t>https://github.com/CS-Ponkoj/Hate-and-Threat-Detection-in-Forensics</a:t>
            </a:r>
            <a:endParaRPr lang="en-US" sz="1400" i="1" dirty="0"/>
          </a:p>
        </p:txBody>
      </p:sp>
      <p:pic>
        <p:nvPicPr>
          <p:cNvPr id="7170" name="Picture 2" descr="Smiling Cat Creepy Cat GIF - Smiling Cat Creepy Cat Cat - Discover &amp; Share  GIFs">
            <a:extLst>
              <a:ext uri="{FF2B5EF4-FFF2-40B4-BE49-F238E27FC236}">
                <a16:creationId xmlns:a16="http://schemas.microsoft.com/office/drawing/2014/main" id="{9A75AB53-B46C-A6C1-3269-E888AAFAD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74560" y="855666"/>
            <a:ext cx="4202057" cy="529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62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99"/>
    </mc:Choice>
    <mc:Fallback xmlns="">
      <p:transition spd="slow" advTm="12599"/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1163</Words>
  <Application>Microsoft Office PowerPoint</Application>
  <PresentationFormat>Widescreen</PresentationFormat>
  <Paragraphs>100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Calisto MT</vt:lpstr>
      <vt:lpstr>Univers Condensed</vt:lpstr>
      <vt:lpstr>ChronicleVTI</vt:lpstr>
      <vt:lpstr>Detection of Hate and Threat in Digital Forensics: A Case-Driven Multimodal Approach</vt:lpstr>
      <vt:lpstr>The Real problem</vt:lpstr>
      <vt:lpstr>Why this matters for digital forensics</vt:lpstr>
      <vt:lpstr>core idea</vt:lpstr>
      <vt:lpstr>Related Works</vt:lpstr>
      <vt:lpstr>Methodology</vt:lpstr>
      <vt:lpstr>Experimental Setup </vt:lpstr>
      <vt:lpstr>Case-driven routing</vt:lpstr>
      <vt:lpstr>Modality</vt:lpstr>
      <vt:lpstr>Frozen label space</vt:lpstr>
      <vt:lpstr>Fusion</vt:lpstr>
      <vt:lpstr>Example Walkthrough (weapon_2)</vt:lpstr>
      <vt:lpstr>Example Walkthrough (weapon_2)</vt:lpstr>
      <vt:lpstr>Results</vt:lpstr>
      <vt:lpstr>Discussion and Conclusion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Ponkoj C Shill</dc:creator>
  <cp:lastModifiedBy>Ponkoj C Shill</cp:lastModifiedBy>
  <cp:revision>2</cp:revision>
  <dcterms:created xsi:type="dcterms:W3CDTF">2025-12-16T23:49:48Z</dcterms:created>
  <dcterms:modified xsi:type="dcterms:W3CDTF">2025-12-17T03:29:27Z</dcterms:modified>
</cp:coreProperties>
</file>